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aleway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  <p:embeddedFont>
      <p:font typeface="Roboto Mon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italic.fntdata"/><Relationship Id="rId42" Type="http://schemas.openxmlformats.org/officeDocument/2006/relationships/font" Target="fonts/Lato-regular.fntdata"/><Relationship Id="rId41" Type="http://schemas.openxmlformats.org/officeDocument/2006/relationships/font" Target="fonts/Raleway-boldItalic.fntdata"/><Relationship Id="rId44" Type="http://schemas.openxmlformats.org/officeDocument/2006/relationships/font" Target="fonts/Lato-italic.fntdata"/><Relationship Id="rId43" Type="http://schemas.openxmlformats.org/officeDocument/2006/relationships/font" Target="fonts/Lato-bold.fntdata"/><Relationship Id="rId46" Type="http://schemas.openxmlformats.org/officeDocument/2006/relationships/font" Target="fonts/RobotoMono-regular.fntdata"/><Relationship Id="rId45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italic.fntdata"/><Relationship Id="rId47" Type="http://schemas.openxmlformats.org/officeDocument/2006/relationships/font" Target="fonts/RobotoMono-bold.fntdata"/><Relationship Id="rId49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Raleway-bold.fntdata"/><Relationship Id="rId38" Type="http://schemas.openxmlformats.org/officeDocument/2006/relationships/font" Target="fonts/Raleway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c674e2aa5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c674e2aa5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c674e2aa5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c674e2aa5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c674e2aa5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c674e2aa5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c674e2aa5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c674e2aa5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c674e2aa5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c674e2aa5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c674e2aa5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c674e2aa5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c674e2aa5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c674e2aa5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c674e2aa5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c674e2aa5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c674e2aa5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c674e2aa5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c674e2aa5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c674e2aa5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c674e2aa5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c674e2aa5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c674e2aa5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c674e2aa5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c674e2aa5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c674e2aa5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c674e2aa5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c674e2aa5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c674e2aa5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c674e2aa5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c674e2aa5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c674e2aa5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c674e2aa5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c674e2aa5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c674e2aa5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c674e2aa5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c674e2aa5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c674e2aa5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c674e2aa5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c674e2aa5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c674e2aa5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c674e2aa5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c674e2aa5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c674e2aa5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c674e2aa5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c674e2aa5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c674e2aa5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c674e2aa5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c674e2aa5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c674e2aa5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c674e2aa5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c674e2aa5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c674e2aa5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c674e2aa5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c674e2aa5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c674e2aa5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c674e2aa5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c674e2aa5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c674e2aa5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c674e2aa5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c674e2aa5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c674e2aa5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Questions techniques - Entretien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0" y="0"/>
            <a:ext cx="8951700" cy="66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🎓 FICHE TECHNIQUE 1 — Biais / Variance / Overfitting / Underfitting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Concepts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Biais</a:t>
            </a:r>
            <a:r>
              <a:rPr lang="fr" sz="1100"/>
              <a:t> : erreur due à un modèle trop simple (sous-apprentissage).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Variance</a:t>
            </a:r>
            <a:r>
              <a:rPr lang="fr" sz="1100"/>
              <a:t> : erreur due à une trop grande sensibilité aux données d’entraînement (sur-apprentissage).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Trade-off</a:t>
            </a:r>
            <a:r>
              <a:rPr lang="fr" sz="1100"/>
              <a:t> : il faut équilibrer biais et variance.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Questions fréquentes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Comment détecter l’overfitting ?</a:t>
            </a:r>
            <a:br>
              <a:rPr lang="fr" sz="1100"/>
            </a:br>
            <a:r>
              <a:rPr lang="fr" sz="1100"/>
              <a:t> → Écart important entre erreur train et test.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Comment le réduire ?</a:t>
            </a:r>
            <a:br>
              <a:rPr lang="fr" sz="1100"/>
            </a:br>
            <a:r>
              <a:rPr lang="fr" sz="1100"/>
              <a:t> → Régularisation (L1/L2), dropout, early stopping, plus de données, cross-validation.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Qu’est-ce que le biais d’un modèle ?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Pièges à éviter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Dire que “le biais = erreur sur train” (faux, c’est la tendance du modèle à simplifier).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Oublier de citer la </a:t>
            </a:r>
            <a:r>
              <a:rPr b="1" lang="fr" sz="1100"/>
              <a:t>cross-validation</a:t>
            </a:r>
            <a:r>
              <a:rPr lang="fr" sz="1100"/>
              <a:t>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entretien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fr" sz="1100"/>
              <a:t>“L’overfitting, c’est quand le modèle apprend trop les spécificités du train. Je le contrôle par régularisation, early stopping, et une bonne validation croisée.”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0" y="0"/>
            <a:ext cx="8951700" cy="6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🎓 FICHE TECHNIQUE 2 — Validation croisée et évaluation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Concepts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K-Fold CV</a:t>
            </a:r>
            <a:r>
              <a:rPr lang="fr" sz="1100"/>
              <a:t> : découper le dataset en k sous-ensembles, entraîner sur k-1 et tester sur le dernier.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Stratified CV</a:t>
            </a:r>
            <a:r>
              <a:rPr lang="fr" sz="1100"/>
              <a:t> : conserve la proportion des classes.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Metrics</a:t>
            </a:r>
            <a:r>
              <a:rPr lang="fr" sz="1100"/>
              <a:t> : Accuracy, Precision, Recall, F1, AUC, RMSE, R² selon la tâche.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Questions fréquentes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Quelle métrique choisir pour un dataset déséquilibré ?</a:t>
            </a:r>
            <a:br>
              <a:rPr lang="fr" sz="1100"/>
            </a:br>
            <a:r>
              <a:rPr lang="fr" sz="1100"/>
              <a:t> → F1-score ou AUC plutôt qu’accuracy.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Quelle différence entre validation croisée et simple split train/test ?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Pièges à éviter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Ne pas justifier le choix de la métrique par le </a:t>
            </a:r>
            <a:r>
              <a:rPr b="1" lang="fr" sz="1100"/>
              <a:t>contexte métier</a:t>
            </a:r>
            <a:r>
              <a:rPr lang="fr" sz="1100"/>
              <a:t>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Mélanger données de test et de validation (data leakage).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entretien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valide toujours la robustesse du modèle via une stratified k-fold CV et j’adapte la métrique selon le coût métier des erreurs.”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/>
        </p:nvSpPr>
        <p:spPr>
          <a:xfrm>
            <a:off x="0" y="0"/>
            <a:ext cx="8951700" cy="83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🎓 FICHE TECHNIQUE 3 — Feature Engineering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Concepts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Sélection, transformation, création de variables pertinentes.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Techniques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Encodage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OneHot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Target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LabelEncoder</a:t>
            </a:r>
            <a:r>
              <a:rPr lang="fr" sz="1100"/>
              <a:t>)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Normalisation / standardisation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Imputation des valeurs manquantes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Interaction features, polynomiales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Questions fréquentes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Différence entre normalisation et standardisation ?</a:t>
            </a:r>
            <a:br>
              <a:rPr lang="fr" sz="1100"/>
            </a:br>
            <a:r>
              <a:rPr lang="fr" sz="1100"/>
              <a:t> → Normalisation : [0,1] ; Standardisation : moyenne 0, écart-type 1.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Comment gérer les outliers ?</a:t>
            </a:r>
            <a:br>
              <a:rPr lang="fr" sz="1100"/>
            </a:br>
            <a:r>
              <a:rPr lang="fr" sz="1100"/>
              <a:t> → Winsorization, log transform, robust scaler.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Comment gérer les valeurs manquantes ?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Pièges à éviter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Appliquer le scaler/encoder avant le split train/test (data leakage).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Oublier de documenter les transformations.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entretien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veille à appliquer les transformations apprises sur le train uniquement. Je combine parfois des variables pour capturer des effets non linéaires.”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/>
        </p:nvSpPr>
        <p:spPr>
          <a:xfrm>
            <a:off x="0" y="0"/>
            <a:ext cx="8951700" cy="6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🎓 FICHE TECHNIQUE 4 — Sélection de modèles et hyperparamètres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Concepts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GridSearchCV / RandomSearchCV / Bayesian Optimization</a:t>
            </a:r>
            <a:br>
              <a:rPr b="1" lang="fr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Hyperparamètres</a:t>
            </a:r>
            <a:r>
              <a:rPr lang="fr" sz="1100"/>
              <a:t> ≠ paramètres appris (ex : profondeur d’un arbre vs poids du modèle).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Questions fréquentes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Quelle différence entre GridSearch et RandomSearch ?</a:t>
            </a:r>
            <a:br>
              <a:rPr lang="fr" sz="1100"/>
            </a:br>
            <a:r>
              <a:rPr lang="fr" sz="1100"/>
              <a:t> → Grid = exhaustif, Random = aléatoire mais plus efficace sur grands espaces.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Comment éviter le sur-ajustement lors du tuning ?</a:t>
            </a:r>
            <a:br>
              <a:rPr lang="fr" sz="1100"/>
            </a:br>
            <a:r>
              <a:rPr lang="fr" sz="1100"/>
              <a:t> → Nested CV, validation séparée, early stopping.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Pièges à éviter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Confondre “paramètre” et “hyperparamètre”.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Faire le tuning sur le test set.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entretien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“J’utilise RandomSearch ou Optuna pour explorer efficacement les hyperparamètres, puis je valide avec une CV imbriquée pour éviter le sur-ajustement.”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0" y="0"/>
            <a:ext cx="8951700" cy="59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🎓 FICHE TECHNIQUE 5 — Importance des variables / Interprétabilité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Concepts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Feature importance</a:t>
            </a:r>
            <a:r>
              <a:rPr lang="fr" sz="1100"/>
              <a:t> : Gini importance, permutation importance, SHAP, LIME.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SHAP</a:t>
            </a:r>
            <a:r>
              <a:rPr lang="fr" sz="1100"/>
              <a:t> : explique la contribution de chaque variable à une prédiction donnée.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Questions fréquentes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Comment expliquer ton modèle à un client non technique ?</a:t>
            </a:r>
            <a:br>
              <a:rPr lang="fr" sz="1100"/>
            </a:br>
            <a:r>
              <a:rPr lang="fr" sz="1100"/>
              <a:t> → SHAP plots ou partial dependence plots.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Différence entre feature importance et corrélation ?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Pièges à éviter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Dire qu’une forte importance = causalité.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Utiliser seulement la feature importance des arbres (peut être biaisée).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entretien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“J’utilise souvent SHAP pour visualiser l’effet local et global des features, surtout pour les modèles en production.”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0" y="0"/>
            <a:ext cx="8951700" cy="6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🎓 FICHE TECHNIQUE 6 — Régularisation (L1, L2, Elastic Net)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Concepts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L1 (Lasso)</a:t>
            </a:r>
            <a:r>
              <a:rPr lang="fr" sz="1100"/>
              <a:t> : pénalise la somme des valeurs absolues → sélection de variables.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L2 (Ridge)</a:t>
            </a:r>
            <a:r>
              <a:rPr lang="fr" sz="1100"/>
              <a:t> : pénalise le carré des coefficients → réduit leur magnitude.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Elastic Net</a:t>
            </a:r>
            <a:r>
              <a:rPr lang="fr" sz="1100"/>
              <a:t> : combinaison des deux.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Questions fréquentes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Quelle régularisation choisir pour un grand nombre de variables ?</a:t>
            </a:r>
            <a:br>
              <a:rPr lang="fr" sz="1100"/>
            </a:br>
            <a:r>
              <a:rPr lang="fr" sz="1100"/>
              <a:t> → L1 ou Elastic Net.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Que fait la régularisation sur les coefficients ?</a:t>
            </a:r>
            <a:br>
              <a:rPr lang="fr" sz="1100"/>
            </a:br>
            <a:r>
              <a:rPr lang="fr" sz="1100"/>
              <a:t> → Réduit le sur-apprentissage en limitant leur amplitude.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Pièges à éviter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Confondre régularisation et normalisation.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Oublier que la régularisation s’applique à la </a:t>
            </a:r>
            <a:r>
              <a:rPr b="1" lang="fr" sz="1100"/>
              <a:t>fonction de coût</a:t>
            </a:r>
            <a:r>
              <a:rPr lang="fr" sz="1100"/>
              <a:t>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entretien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préfère Elastic Net pour combiner la sélection de variables du Lasso et la stabilité du Ridge.”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0" y="0"/>
            <a:ext cx="8951700" cy="7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🎓 FICHE TECHNIQUE 7 — Imbalance et rééchantillonnage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Concepts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Données déséquilibrées → la majorité domine l’apprentissage.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Solutions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fr" sz="1100"/>
              <a:t>Oversampling</a:t>
            </a:r>
            <a:r>
              <a:rPr lang="fr" sz="1100"/>
              <a:t> : SMOTE, ADASYN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fr" sz="1100"/>
              <a:t>Undersampling</a:t>
            </a:r>
            <a:br>
              <a:rPr b="1" lang="fr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fr" sz="1100"/>
              <a:t>Weighted loss</a:t>
            </a:r>
            <a:br>
              <a:rPr b="1" lang="fr" sz="1100"/>
            </a:b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Questions fréquentes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Comment gérer un dataset très déséquilibré ?</a:t>
            </a:r>
            <a:br>
              <a:rPr lang="fr" sz="1100"/>
            </a:br>
            <a:r>
              <a:rPr lang="fr" sz="1100"/>
              <a:t> → SMOTE + métrique adaptée (AUC, F1).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Quelles précautions avec le sur-échantillonnage ?</a:t>
            </a:r>
            <a:br>
              <a:rPr lang="fr" sz="1100"/>
            </a:br>
            <a:r>
              <a:rPr lang="fr" sz="1100"/>
              <a:t> → Risque d’overfitting.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Pièges à éviter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Appliquer SMOTE avant le split train/test.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Utiliser accuracy sur classes déséquilibrées.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entretien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préfère pondérer la loss plutôt que sur-échantillonner quand la donnée est rare, pour éviter la duplication artificielle.”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/>
        </p:nvSpPr>
        <p:spPr>
          <a:xfrm>
            <a:off x="0" y="0"/>
            <a:ext cx="8951700" cy="6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🎓 FICHE TECHNIQUE 8 — Séries temporelles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Concepts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Données ordonnées → dépendance temporelle.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Méthodes : ARIMA, Prophet, LSTM, CNN 1D.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Split temporel (pas de shuffle), lag features, rolling windows.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Questions fréquentes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Comment valider un modèle sur séries temporelles ?</a:t>
            </a:r>
            <a:br>
              <a:rPr lang="fr" sz="1100"/>
            </a:br>
            <a:r>
              <a:rPr lang="fr" sz="1100"/>
              <a:t> → Split chronologique ou TimeSeriesSplit.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Comment gérer la saisonnalité ?</a:t>
            </a:r>
            <a:br>
              <a:rPr lang="fr" sz="1100"/>
            </a:br>
            <a:r>
              <a:rPr lang="fr" sz="1100"/>
              <a:t> → Variables explicites ou modèle SARIMA/Prophet.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Pièges à éviter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Cross-validation aléatoire.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Utiliser des features du futur (data leakage temporel).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entretien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découpe mes données dans le temps et crée des features de décalage pour capturer les dépendances passées.”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/>
        </p:nvSpPr>
        <p:spPr>
          <a:xfrm>
            <a:off x="0" y="0"/>
            <a:ext cx="8951700" cy="6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🎓 FICHE TECHNIQUE 9 — Deep Learning : bonnes pratiques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Concepts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Normalisation des entrées, initialisation des poids, dropout, batch normalization.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Early stopping, learning rate scheduler.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Questions fréquentes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Pourquoi utiliser le dropout ?</a:t>
            </a:r>
            <a:br>
              <a:rPr lang="fr" sz="1100"/>
            </a:br>
            <a:r>
              <a:rPr lang="fr" sz="1100"/>
              <a:t> → Pour éviter le sur-apprentissage.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À quoi sert la batch normalization ?</a:t>
            </a:r>
            <a:br>
              <a:rPr lang="fr" sz="1100"/>
            </a:br>
            <a:r>
              <a:rPr lang="fr" sz="1100"/>
              <a:t> → Stabiliser et accélérer l’apprentissage.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Pièges à éviter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Utiliser un learning rate trop grand (divergence).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Oublier le </a:t>
            </a:r>
            <a:r>
              <a:rPr i="1" lang="fr" sz="1100"/>
              <a:t>scaling</a:t>
            </a:r>
            <a:r>
              <a:rPr lang="fr" sz="1100"/>
              <a:t> des données d’entrée.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entretien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“J’ajuste le learning rate avec un scheduler et j’utilise early stopping pour garantir une convergence stable.”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/>
        </p:nvSpPr>
        <p:spPr>
          <a:xfrm>
            <a:off x="0" y="0"/>
            <a:ext cx="8951700" cy="6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🎓 FICHE TECHNIQUE 10 — Pipeline et industrialisation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Concepts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Pipeline ML</a:t>
            </a:r>
            <a:r>
              <a:rPr lang="fr" sz="1100"/>
              <a:t> : ingestion → preprocessing → modèle → évaluation → déploiement.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Outils :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sklearn.pipeline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MLflow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Airflow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FastAPI</a:t>
            </a:r>
            <a:r>
              <a:rPr lang="fr" sz="1100"/>
              <a:t>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Questions fréquentes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Comment déploierais-tu ton modèle ?</a:t>
            </a:r>
            <a:br>
              <a:rPr lang="fr" sz="1100"/>
            </a:br>
            <a:r>
              <a:rPr lang="fr" sz="1100"/>
              <a:t> → Via API (FastAPI) ou batch scoring (Airflow + MLflow).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Pourquoi créer un pipeline ?</a:t>
            </a:r>
            <a:br>
              <a:rPr lang="fr" sz="1100"/>
            </a:br>
            <a:r>
              <a:rPr lang="fr" sz="1100"/>
              <a:t> → Reproductibilité, traçabilité, automatisation.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Pièges à éviter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Mélanger code expérimental et production.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Oublier la sauvegarde du preprocessing.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entretien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conserve la cohérence entre entraînement et production grâce à un pipeline scikit-learn complet, versionné avec MLflow.”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/>
        </p:nvSpPr>
        <p:spPr>
          <a:xfrm>
            <a:off x="0" y="0"/>
            <a:ext cx="8951700" cy="13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🎓 Questions type Entretien:</a:t>
            </a:r>
            <a:endParaRPr b="1" sz="17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/>
        </p:nvSpPr>
        <p:spPr>
          <a:xfrm>
            <a:off x="0" y="0"/>
            <a:ext cx="8951700" cy="49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1 — Différence entre apprentissage supervisé, non supervisé et par renforcement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“En apprentissage supervisé, le modèle apprend à partir de données labellisées pour prédire une variable cible.</a:t>
            </a:r>
            <a:br>
              <a:rPr lang="fr" sz="1100"/>
            </a:br>
            <a:r>
              <a:rPr lang="fr" sz="1100"/>
              <a:t> En non supervisé, il découvre des structures cachées (clusters, composantes) sans cible.</a:t>
            </a:r>
            <a:br>
              <a:rPr lang="fr" sz="1100"/>
            </a:br>
            <a:r>
              <a:rPr lang="fr" sz="1100"/>
              <a:t> Et en apprentissage par renforcement, un agent apprend par essais/erreurs à maximiser une récompense dans un environnement.”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Exemples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Supervisé → prédiction de churn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Non supervisé → segmentation client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Renforcement → robotique, trading, jeux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 :</a:t>
            </a:r>
            <a:br>
              <a:rPr b="1" lang="fr" sz="1100"/>
            </a:br>
            <a:r>
              <a:rPr lang="fr" sz="1100"/>
              <a:t> Ne pas confondre apprentissage non supervisé et semi-supervisé.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/>
        </p:nvSpPr>
        <p:spPr>
          <a:xfrm>
            <a:off x="0" y="0"/>
            <a:ext cx="8951700" cy="4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2 — Différence entre régression linéaire et régression logistique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“La régression linéaire prédit une valeur continue via une combinaison linéaire des features.</a:t>
            </a:r>
            <a:br>
              <a:rPr lang="fr" sz="1100"/>
            </a:br>
            <a:r>
              <a:rPr lang="fr" sz="1100"/>
              <a:t> La régression logistique prédit une probabilité d’appartenance à une classe, via une fonction sigmoïde.”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À ajouter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Linéaire : MSE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Logistique : Log loss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Logistique → classification binaire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 :</a:t>
            </a:r>
            <a:br>
              <a:rPr b="1" lang="fr" sz="1100"/>
            </a:br>
            <a:r>
              <a:rPr lang="fr" sz="1100"/>
              <a:t> Dire que la régression logistique est “linéaire” (elle ne l’est pas dans l’espace des probabilités).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/>
        </p:nvSpPr>
        <p:spPr>
          <a:xfrm>
            <a:off x="0" y="0"/>
            <a:ext cx="8951700" cy="24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3 — Comment détecter et gérer l’overfitting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le détecte quand la performance sur le jeu de test chute alors qu’elle est très bonne sur le train.</a:t>
            </a:r>
            <a:br>
              <a:rPr lang="fr" sz="1100"/>
            </a:br>
            <a:r>
              <a:rPr lang="fr" sz="1100"/>
              <a:t> Pour le corriger, j’utilise la régularisation (L1/L2), le dropout, plus de données, ou l’early stopping selon le modèle.”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 :</a:t>
            </a:r>
            <a:br>
              <a:rPr b="1" lang="fr" sz="1100"/>
            </a:br>
            <a:r>
              <a:rPr lang="fr" sz="1100"/>
              <a:t> Ne pas confondre “underfitting” et “overfitting”.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0"/>
            <a:ext cx="8951700" cy="21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4 — Que fait le paramètre C dans un SVM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“C contrôle le compromis entre marge maximale et erreurs de classification.</a:t>
            </a:r>
            <a:br>
              <a:rPr lang="fr" sz="1100"/>
            </a:br>
            <a:r>
              <a:rPr lang="fr" sz="1100"/>
              <a:t> Une valeur élevée de C cherche à classer parfaitement le train (risque d’overfitting),</a:t>
            </a:r>
            <a:br>
              <a:rPr lang="fr" sz="1100"/>
            </a:br>
            <a:r>
              <a:rPr lang="fr" sz="1100"/>
              <a:t> une petite valeur autorise plus d’erreurs (marge plus large, modèle plus régulier).”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/>
        </p:nvSpPr>
        <p:spPr>
          <a:xfrm>
            <a:off x="0" y="0"/>
            <a:ext cx="8951700" cy="30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5 — Quelle est la différence entre bagging et boosting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“Le bagging entraîne plusieurs modèles en parallèle sur des sous-échantillons aléatoires et agrège leurs prédictions — comme le Random Forest.</a:t>
            </a:r>
            <a:br>
              <a:rPr lang="fr" sz="1100"/>
            </a:br>
            <a:r>
              <a:rPr lang="fr" sz="1100"/>
              <a:t> Le boosting, lui, construit des modèles séquentiellement, chaque modèle corrigeant les erreurs du précédent — comme XGBoost ou AdaBoost.”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:</a:t>
            </a:r>
            <a:br>
              <a:rPr b="1" lang="fr" sz="1100"/>
            </a:br>
            <a:r>
              <a:rPr lang="fr" sz="1100"/>
              <a:t> Bagging → variance ↓</a:t>
            </a:r>
            <a:br>
              <a:rPr lang="fr" sz="1100"/>
            </a:br>
            <a:r>
              <a:rPr lang="fr" sz="1100"/>
              <a:t> Boosting → biais ↓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/>
        </p:nvSpPr>
        <p:spPr>
          <a:xfrm>
            <a:off x="0" y="0"/>
            <a:ext cx="8951700" cy="24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6 — Comment gérer un dataset déséquilibré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peux pondérer la loss, faire du sur-échantillonnage (SMOTE) ou du sous-échantillonnage, et surtout choisir une métrique adaptée comme F1 ou AUC plutôt que l’accuracy.”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 :</a:t>
            </a:r>
            <a:br>
              <a:rPr b="1" lang="fr" sz="1100"/>
            </a:br>
            <a:r>
              <a:rPr lang="fr" sz="1100"/>
              <a:t> Ne jamais dire “j’équilibre les classes en copiant des lignes”.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/>
        </p:nvSpPr>
        <p:spPr>
          <a:xfrm>
            <a:off x="0" y="0"/>
            <a:ext cx="8951700" cy="26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7 — Quelle est la différence entre PCA et LDA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“La PCA est non supervisée et cherche à maximiser la variance des données projetées.</a:t>
            </a:r>
            <a:br>
              <a:rPr lang="fr" sz="1100"/>
            </a:br>
            <a:r>
              <a:rPr lang="fr" sz="1100"/>
              <a:t> La LDA est supervisée et cherche à maximiser la séparabilité entre classes tout en minimisant la variance intra-classe.”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:</a:t>
            </a:r>
            <a:br>
              <a:rPr b="1" lang="fr" sz="1100"/>
            </a:br>
            <a:r>
              <a:rPr lang="fr" sz="1100"/>
              <a:t> PCA = variance</a:t>
            </a:r>
            <a:br>
              <a:rPr lang="fr" sz="1100"/>
            </a:br>
            <a:r>
              <a:rPr lang="fr" sz="1100"/>
              <a:t> LDA = séparation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/>
        </p:nvSpPr>
        <p:spPr>
          <a:xfrm>
            <a:off x="0" y="0"/>
            <a:ext cx="8951700" cy="2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8 — Comment choisir un modèle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considère d’abord la nature de la variable cible (continue, catégorielle), la taille du dataset, le besoin d’interprétabilité, et le temps d’inférence.</a:t>
            </a:r>
            <a:br>
              <a:rPr lang="fr" sz="1100"/>
            </a:br>
            <a:r>
              <a:rPr lang="fr" sz="1100"/>
              <a:t> Ensuite, j’évalue plusieurs modèles avec validation croisée et métriques pertinentes, en privilégiant le meilleur compromis performance / robustesse / interprétabilité.”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 :</a:t>
            </a:r>
            <a:br>
              <a:rPr b="1" lang="fr" sz="1100"/>
            </a:br>
            <a:r>
              <a:rPr lang="fr" sz="1100"/>
              <a:t> Répondre uniquement par “j’utilise le plus performant” — il faut évoquer </a:t>
            </a:r>
            <a:r>
              <a:rPr b="1" lang="fr" sz="1100"/>
              <a:t>le contexte métier</a:t>
            </a:r>
            <a:r>
              <a:rPr lang="fr" sz="1100"/>
              <a:t>.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/>
        </p:nvSpPr>
        <p:spPr>
          <a:xfrm>
            <a:off x="0" y="0"/>
            <a:ext cx="8951700" cy="26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9 — Qu’est-ce qu’un pipeline de machine learning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“C’est une chaîne reproductible qui comprend le prétraitement, la transformation des features et l’entraînement du modèle.</a:t>
            </a:r>
            <a:br>
              <a:rPr lang="fr" sz="1100"/>
            </a:br>
            <a:r>
              <a:rPr lang="fr" sz="1100"/>
              <a:t> En Python, j’utilise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sklearn.pipeline</a:t>
            </a:r>
            <a:r>
              <a:rPr lang="fr" sz="1100"/>
              <a:t> pour éviter le data leakage et garantir la cohérence entre entraînement et production.”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Bonus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sauvegarde le pipeline complet avec joblib ou MLflow pour le déploiement.”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/>
        </p:nvSpPr>
        <p:spPr>
          <a:xfrm>
            <a:off x="0" y="0"/>
            <a:ext cx="8951700" cy="26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10 — Différence entre L1 et L2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“L1 (Lasso) ajoute une pénalisation sur la somme des valeurs absolues des coefficients, ce qui met certains à zéro.</a:t>
            </a:r>
            <a:br>
              <a:rPr lang="fr" sz="1100"/>
            </a:br>
            <a:r>
              <a:rPr lang="fr" sz="1100"/>
              <a:t> L2 (Ridge) pénalise la somme des carrés des coefficients, ce qui les réduit sans les annuler.”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:</a:t>
            </a:r>
            <a:br>
              <a:rPr b="1" lang="fr" sz="1100"/>
            </a:br>
            <a:r>
              <a:rPr lang="fr" sz="1100"/>
              <a:t> L1 → sélection de variables</a:t>
            </a:r>
            <a:br>
              <a:rPr lang="fr" sz="1100"/>
            </a:br>
            <a:r>
              <a:rPr lang="fr" sz="1100"/>
              <a:t> L2 → stabilité du modèle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/>
        </p:nvSpPr>
        <p:spPr>
          <a:xfrm>
            <a:off x="0" y="0"/>
            <a:ext cx="8951700" cy="24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11 — Pourquoi standardiser ou normaliser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“Pour que toutes les variables aient la même échelle, sinon certaines dominent le calcul des distances ou gradients.</a:t>
            </a:r>
            <a:br>
              <a:rPr lang="fr" sz="1100"/>
            </a:br>
            <a:r>
              <a:rPr lang="fr" sz="1100"/>
              <a:t> La normalisation met les valeurs entre [0,1], la standardisation les centre et réduit (moy=0, std=1).”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 :</a:t>
            </a:r>
            <a:br>
              <a:rPr b="1" lang="fr" sz="1100"/>
            </a:br>
            <a:r>
              <a:rPr lang="fr" sz="1100"/>
              <a:t> Faire la normalisation avant le split train/test.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/>
        </p:nvSpPr>
        <p:spPr>
          <a:xfrm>
            <a:off x="0" y="0"/>
            <a:ext cx="8951700" cy="26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12 — Quelle différence entre accuracy et F1-score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“L’accuracy mesure la proportion totale de prédictions correctes, mais elle peut être trompeuse sur des classes déséquilibrées.</a:t>
            </a:r>
            <a:br>
              <a:rPr lang="fr" sz="1100"/>
            </a:br>
            <a:r>
              <a:rPr lang="fr" sz="1100"/>
              <a:t> Le F1-score est la moyenne harmonique de la précision et du rappel, plus fiable quand les classes sont déséquilibrées.”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préfère le F1 ou l’AUC pour les datasets déséquilibrés.”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/>
        </p:nvSpPr>
        <p:spPr>
          <a:xfrm>
            <a:off x="0" y="0"/>
            <a:ext cx="8951700" cy="21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13 — Qu’est-ce qu’un gradient vanishing/exploding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“Dans les réseaux profonds, les gradients deviennent très petits (vanishing) ou très grands (exploding) lors de la rétropropagation, ce qui bloque ou déstabilise l’apprentissage.</a:t>
            </a:r>
            <a:br>
              <a:rPr lang="fr" sz="1100"/>
            </a:br>
            <a:r>
              <a:rPr lang="fr" sz="1100"/>
              <a:t> On corrige avec la normalisation, l’initialisation adaptée, ou des architectures comme LSTM / ReLU.”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/>
        </p:nvSpPr>
        <p:spPr>
          <a:xfrm>
            <a:off x="0" y="0"/>
            <a:ext cx="8951700" cy="28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14 — Comment interpréter un modèle complexe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“J’utilise des méthodes d’interprétabilité comme SHAP ou LIME pour visualiser la contribution de chaque variable sur la prédiction globale ou locale.</a:t>
            </a:r>
            <a:br>
              <a:rPr lang="fr" sz="1100"/>
            </a:br>
            <a:r>
              <a:rPr lang="fr" sz="1100"/>
              <a:t> Cela aide à expliquer les résultats aux décideurs non techniques.”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Bonus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vérifie aussi la cohérence métier de ces contributions avant le déploiement.”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/>
        </p:nvSpPr>
        <p:spPr>
          <a:xfrm>
            <a:off x="0" y="0"/>
            <a:ext cx="89517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15 — Qu’est-ce qu’un test A/B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“C’est une méthode expérimentale pour comparer deux versions d’un système (A et B) en mesurant un indicateur de performance.</a:t>
            </a:r>
            <a:br>
              <a:rPr lang="fr" sz="1100"/>
            </a:br>
            <a:r>
              <a:rPr lang="fr" sz="1100"/>
              <a:t> On répartit les utilisateurs aléatoirement et on teste la différence statistiquement.”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À ajouter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Vérifier la significativité (test t, z, chi²)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Assurer l’indépendance des échantillons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/>
        </p:nvSpPr>
        <p:spPr>
          <a:xfrm>
            <a:off x="0" y="0"/>
            <a:ext cx="8951700" cy="21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16 — Quelle est la différence entre MSE, RMSE et MAE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“Le MSE (Mean Squared Error) pénalise plus fortement les grosses erreurs.</a:t>
            </a:r>
            <a:br>
              <a:rPr lang="fr" sz="1100"/>
            </a:br>
            <a:r>
              <a:rPr lang="fr" sz="1100"/>
              <a:t> Le RMSE est la racine carrée du MSE, donc exprimé dans la même unité que la cible.</a:t>
            </a:r>
            <a:br>
              <a:rPr lang="fr" sz="1100"/>
            </a:br>
            <a:r>
              <a:rPr lang="fr" sz="1100"/>
              <a:t> Le MAE (Mean Absolute Error) est plus robuste aux outliers.”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/>
        </p:nvSpPr>
        <p:spPr>
          <a:xfrm>
            <a:off x="0" y="0"/>
            <a:ext cx="8951700" cy="24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17 — Pourquoi utiliser une régularisation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“Pour limiter le sur-apprentissage en contraignant la complexité du modèle.</a:t>
            </a:r>
            <a:br>
              <a:rPr lang="fr" sz="1100"/>
            </a:br>
            <a:r>
              <a:rPr lang="fr" sz="1100"/>
              <a:t> Elle réduit les coefficients extrêmes et améliore la généralisation.”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 :</a:t>
            </a:r>
            <a:br>
              <a:rPr b="1" lang="fr" sz="1100"/>
            </a:br>
            <a:r>
              <a:rPr lang="fr" sz="1100"/>
              <a:t> Confondre régularisation et normalisation (échelles ≠ pénalisation).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 txBox="1"/>
          <p:nvPr/>
        </p:nvSpPr>
        <p:spPr>
          <a:xfrm>
            <a:off x="0" y="0"/>
            <a:ext cx="8951700" cy="26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18 — Explique-moi la logique du Gradient Boosting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“Chaque nouvel arbre est entraîné pour corriger les erreurs du modèle précédent, en minimisant les résidus.</a:t>
            </a:r>
            <a:br>
              <a:rPr lang="fr" sz="1100"/>
            </a:br>
            <a:r>
              <a:rPr lang="fr" sz="1100"/>
              <a:t> Le modèle final est une somme pondérée de tous ces arbres faibles.”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“C’est une approche séquentielle qui réduit progressivement le biais.”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/>
        </p:nvSpPr>
        <p:spPr>
          <a:xfrm>
            <a:off x="0" y="0"/>
            <a:ext cx="8951700" cy="24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19 — Pourquoi la PCA est-elle utile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“Elle réduit la dimension tout en conservant la variance maximale.</a:t>
            </a:r>
            <a:br>
              <a:rPr lang="fr" sz="1100"/>
            </a:br>
            <a:r>
              <a:rPr lang="fr" sz="1100"/>
              <a:t> Cela aide à visualiser les données, accélérer les calculs et limiter le sur-apprentissage.”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Piège :</a:t>
            </a:r>
            <a:br>
              <a:rPr b="1" lang="fr" sz="1100"/>
            </a:br>
            <a:r>
              <a:rPr lang="fr" sz="1100"/>
              <a:t> Ne pas dire que c’est “supervisé” — elle ne connaît pas la cible.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4"/>
          <p:cNvSpPr txBox="1"/>
          <p:nvPr/>
        </p:nvSpPr>
        <p:spPr>
          <a:xfrm>
            <a:off x="0" y="0"/>
            <a:ext cx="8951700" cy="28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🎯 FICHE 20 — Que vérifies-tu avant de mettre un modèle en production 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Réponse type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vérifie la stabilité du modèle dans le temps (drift), la cohérence des données entrantes, la robustesse sur plusieurs sous-échantillons et l’interprétabilité.</a:t>
            </a:r>
            <a:br>
              <a:rPr lang="fr" sz="1100"/>
            </a:br>
            <a:r>
              <a:rPr lang="fr" sz="1100"/>
              <a:t> Puis je mets en place une surveillance du score et un plan de réentraînement automatique.”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Astuce 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fr" sz="1100"/>
              <a:t>“Je surveille les métriques clés (ex : AUC, drift de features) via un dashboard ou MLflow.”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