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c667282a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c667282a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c667282a6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c667282a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667282a6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667282a6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c667282a6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c667282a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c667282a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c667282a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c667282a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c667282a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c667282a6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c667282a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c667282a6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c667282a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c667282a6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c667282a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667282a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c667282a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c667282a6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c667282a6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c667282a6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c667282a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c667282a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c667282a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667282a6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c667282a6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c667282a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c667282a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c667282a6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c667282a6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c667282a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c667282a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667282a6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c667282a6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c667282a6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c667282a6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c667282a6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c667282a6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Machine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Cheat Sheets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4525" y="796000"/>
            <a:ext cx="8820900" cy="55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 — Régression Linéaire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Modèle linéaire qui cherche à approximer une relation linéaire entre une variable cible yyy et des variables explicatives XXX.</a:t>
            </a:r>
            <a:br>
              <a:rPr lang="fr" sz="1100"/>
            </a:br>
            <a:r>
              <a:rPr lang="fr" sz="1100"/>
              <a:t> y=β0+β1x1+...+βnxn+ϵy = \beta_0 + \beta_1 x_1 + ... + \beta_n x_n + \epsilony=β0​+β1​x1​+...+βn​xn​+ϵ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fit_intercept</a:t>
            </a:r>
            <a:r>
              <a:rPr lang="fr" sz="1100"/>
              <a:t> : inclut ou non le biais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normalize</a:t>
            </a:r>
            <a:r>
              <a:rPr lang="fr" sz="1100"/>
              <a:t> : normalisation préalable des données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alpha</a:t>
            </a:r>
            <a:r>
              <a:rPr lang="fr" sz="1100"/>
              <a:t> (dans la version régularisée Ridge/Lasso) : force de la régularisation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Prédiction de valeurs continues (prix, revenus, températures, etc.)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Analyse de relations entre variables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Plus simple que la régression logistique (qui gère le cas binaire)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Sensible à la multicolinéarité et aux outliers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54525" y="796000"/>
            <a:ext cx="8820900" cy="5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2 — Régression Logistique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Modèle linéaire pour la classification binaire. Apprend la probabilité d’appartenance à une classe via la fonction sigmoïde.</a:t>
            </a:r>
            <a:br>
              <a:rPr lang="fr" sz="1100"/>
            </a:br>
            <a:r>
              <a:rPr lang="fr" sz="1100"/>
              <a:t> P(y=1∣x)=σ(β0+β1x1+...+βnxn)P(y=1|x) = \sigma(\beta_0 + \beta_1x_1 + ... + \beta_nx_n)P(y=1∣x)=σ(β0​+β1​x1​+...+βn​xn​)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fr" sz="1100"/>
              <a:t> : inverse de la régularisation (plus petit → régularisation plus forte)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penalty</a:t>
            </a:r>
            <a:r>
              <a:rPr lang="fr" sz="1100"/>
              <a:t> : type de régularisation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l1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l2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elasticnet</a:t>
            </a:r>
            <a:r>
              <a:rPr lang="fr" sz="1100"/>
              <a:t>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solver</a:t>
            </a:r>
            <a:r>
              <a:rPr lang="fr" sz="1100"/>
              <a:t> : algorithme d’optimisation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liblinear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saga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lbfgs</a:t>
            </a:r>
            <a:r>
              <a:rPr lang="fr" sz="1100"/>
              <a:t>...)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Détection de fraude, churn, spam, maladie (binaire)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Interprétable (coefficients ≈ poids des variables)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Moins performant sur des frontières non linéaires → kernels ou modèles plus complexes à privilégier</a:t>
            </a:r>
            <a:br>
              <a:rPr lang="fr" sz="1100"/>
            </a:b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/>
        </p:nvSpPr>
        <p:spPr>
          <a:xfrm>
            <a:off x="54525" y="796000"/>
            <a:ext cx="8820900" cy="5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3 — k-Nearest Neighbors (k-NN)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Classe ou prédit selon la majorité (ou moyenne) des </a:t>
            </a:r>
            <a:r>
              <a:rPr i="1" lang="fr" sz="1100"/>
              <a:t>k</a:t>
            </a:r>
            <a:r>
              <a:rPr lang="fr" sz="1100"/>
              <a:t> voisins les plus proches dans l’espace des features.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n_neighbors</a:t>
            </a:r>
            <a:r>
              <a:rPr lang="fr" sz="1100"/>
              <a:t> : nombre de voisins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metric</a:t>
            </a:r>
            <a:r>
              <a:rPr lang="fr" sz="1100"/>
              <a:t> : distance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euclidean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manhattan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minkowski</a:t>
            </a:r>
            <a:r>
              <a:rPr lang="fr" sz="1100"/>
              <a:t>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weights</a:t>
            </a:r>
            <a:r>
              <a:rPr lang="fr" sz="1100"/>
              <a:t> : uniforme ou pondéré selon la distance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Classification ou régression sur petits datasets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Recommandation simple, détection d’anomalies locales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Aucune phase d’entraînement (lazy learner)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Lente à l’inférence, sensible au bruit et à la dimension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54525" y="796000"/>
            <a:ext cx="8820900" cy="55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4 — Support Vector Machine (SVM)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Trouve l’hyperplan séparant les classes avec la plus grande marge. Peut utiliser des </a:t>
            </a:r>
            <a:r>
              <a:rPr i="1" lang="fr" sz="1100"/>
              <a:t>kernels</a:t>
            </a:r>
            <a:r>
              <a:rPr lang="fr" sz="1100"/>
              <a:t> pour gérer la non-linéarité.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lang="fr" sz="1100"/>
              <a:t> : contrainte de régularisation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kernel</a:t>
            </a:r>
            <a:r>
              <a:rPr lang="fr" sz="1100"/>
              <a:t>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linear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poly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rbf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sigmoid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gamma</a:t>
            </a:r>
            <a:r>
              <a:rPr lang="fr" sz="1100"/>
              <a:t> : influence d’un seul point d’entraînement (pour RBF)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Classification binaire ou multi-classe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Détection d’anomalies (One-Class SVM)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Très efficace sur données propres et bien scalées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Peu interprétable, lent sur grands volumes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54525" y="796000"/>
            <a:ext cx="8820900" cy="52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5 — Arbres de Décision (Decision Tree)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Apprend une hiérarchie de règles si/alors/sinon à partir des features pour prédire la cible.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min_samples_split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min_samples_leaf</a:t>
            </a:r>
            <a:r>
              <a:rPr lang="fr" sz="1100"/>
              <a:t> : contrôle de la complexité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criterion</a:t>
            </a:r>
            <a:r>
              <a:rPr lang="fr" sz="1100"/>
              <a:t> : mesure d’impureté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gini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entropy</a:t>
            </a:r>
            <a:r>
              <a:rPr lang="fr" sz="1100"/>
              <a:t>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Classification et régression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Explicabilité et visualisation des règles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Interprétable, mais </a:t>
            </a:r>
            <a:r>
              <a:rPr b="1" lang="fr" sz="1100"/>
              <a:t>sujette à l’overfitting</a:t>
            </a:r>
            <a:br>
              <a:rPr b="1" lang="fr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Base de modèles ensemblistes (Random Forest, XGBoost)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54525" y="796000"/>
            <a:ext cx="8820900" cy="59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6 — Random Forest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Ensemble de multiples arbres de décision entraînés sur des sous-échantillons aléatoires → moyenne ou vote majoritaire.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n_estimators</a:t>
            </a:r>
            <a:r>
              <a:rPr lang="fr" sz="1100"/>
              <a:t> : nombre d’arbres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max_features</a:t>
            </a:r>
            <a:r>
              <a:rPr lang="fr" sz="1100"/>
              <a:t> : nombre de features testées à chaque split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bootstrap</a:t>
            </a:r>
            <a:r>
              <a:rPr lang="fr" sz="1100"/>
              <a:t> : échantillonnage avec remise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Classification/régression robuste et polyvalente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Importance des variables, réduction de variance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Moins interprétable qu’un seul arbre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Moins sujet à l’overfitting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Plus lent à entraîner que des modèles linéaires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54525" y="796000"/>
            <a:ext cx="8820900" cy="6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7 — Gradient Boosting / XGBoost / LightGBM / CatBoost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Construction séquentielle d’arbres faibles corrigeant les erreurs des précédents via un </a:t>
            </a:r>
            <a:r>
              <a:rPr i="1" lang="fr" sz="1100"/>
              <a:t>boosting</a:t>
            </a:r>
            <a:r>
              <a:rPr lang="fr" sz="1100"/>
              <a:t> des résidus.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r>
              <a:rPr lang="fr" sz="1100"/>
              <a:t> : taux d’apprentissage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n_estimators</a:t>
            </a:r>
            <a:r>
              <a:rPr lang="fr" sz="1100"/>
              <a:t> : nombre d’arbres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fr" sz="1100"/>
              <a:t> : profondeur max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subsample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colsample_bytree</a:t>
            </a:r>
            <a:r>
              <a:rPr lang="fr" sz="1100"/>
              <a:t> : régularisation via sous-échantillonnage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Compétitions Kaggle, classification, scoring, time series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Cas avec variables catégorielles, missing values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XGBoost</a:t>
            </a:r>
            <a:r>
              <a:rPr lang="fr" sz="1100"/>
              <a:t> : rapide, performant, très populaire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LightGBM</a:t>
            </a:r>
            <a:r>
              <a:rPr lang="fr" sz="1100"/>
              <a:t> : plus rapide sur grands jeux de données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CatBoost</a:t>
            </a:r>
            <a:r>
              <a:rPr lang="fr" sz="1100"/>
              <a:t> : gère nativement les variables catégorielles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54525" y="796000"/>
            <a:ext cx="8820900" cy="52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8 — k-Means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Partitionne les données en </a:t>
            </a:r>
            <a:r>
              <a:rPr i="1" lang="fr" sz="1100"/>
              <a:t>k</a:t>
            </a:r>
            <a:r>
              <a:rPr lang="fr" sz="1100"/>
              <a:t> clusters selon la proximité moyenne (minimisation de la variance intra-cluster).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n_clusters</a:t>
            </a:r>
            <a:r>
              <a:rPr lang="fr" sz="1100"/>
              <a:t> : nombre de clusters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init</a:t>
            </a:r>
            <a:r>
              <a:rPr lang="fr" sz="1100"/>
              <a:t> : méthode d’initialisation (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k-means++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</a:t>
            </a:r>
            <a:r>
              <a:rPr lang="fr" sz="1100"/>
              <a:t>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n_init</a:t>
            </a:r>
            <a:r>
              <a:rPr lang="fr" sz="1100"/>
              <a:t> : nombre d’initialisations pour la robustesse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Segmentation clients, regroupement de produits, compression d’image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Rapide, mais sensible aux outliers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Suppose des clusters sphériques et de taille comparable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/>
        </p:nvSpPr>
        <p:spPr>
          <a:xfrm>
            <a:off x="54525" y="796000"/>
            <a:ext cx="8820900" cy="52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9 — DBSCAN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Regroupe les points denses et identifie les points isolés comme anomalies. Ne nécessite pas le nombre de clusters à l’avance.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eps</a:t>
            </a:r>
            <a:r>
              <a:rPr lang="fr" sz="1100"/>
              <a:t> : distance max entre deux points pour les considérer voisins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</a:t>
            </a:r>
            <a:r>
              <a:rPr lang="fr" sz="1100"/>
              <a:t> : nb min de points pour former un cluster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Détection d’anomalies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Clustering de forme non sphérique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Gère bien le bruit, contrairement à k-means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Sensible au choix d’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eps</a:t>
            </a:r>
            <a:r>
              <a:rPr lang="fr" sz="1100"/>
              <a:t> et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min_samples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/>
        </p:nvSpPr>
        <p:spPr>
          <a:xfrm>
            <a:off x="54525" y="796000"/>
            <a:ext cx="8820900" cy="48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10 — PCA (Analyse en Composantes Principales)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Réduction de dimension en projetant les données sur des axes maximisant la variance.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n_components</a:t>
            </a:r>
            <a:r>
              <a:rPr lang="fr" sz="1100"/>
              <a:t> : nombre de composantes principales à garder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whiten</a:t>
            </a:r>
            <a:r>
              <a:rPr lang="fr" sz="1100"/>
              <a:t> : normalisation des composantes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Visualisation, prétraitement avant ML, compression de données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Non supervisé → ne tient pas compte de la cible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Sensible au scaling et aux valeurs aberrantes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/>
        </p:nvSpPr>
        <p:spPr>
          <a:xfrm>
            <a:off x="54525" y="796000"/>
            <a:ext cx="8820900" cy="6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11 — Réseaux de Neurones Artificiels (ANN / MLP)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Empilement de couches de neurones connectés (entrée → couches cachées → sortie). Chaque neurone applique une transformation linéaire + fonction d’activation non linéaire.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hidden_layer_sizes</a:t>
            </a:r>
            <a:r>
              <a:rPr lang="fr" sz="1100"/>
              <a:t> : taille et nombre de couches cachées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activation</a:t>
            </a:r>
            <a:r>
              <a:rPr lang="fr" sz="1100"/>
              <a:t>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relu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tanh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sigmoid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alpha</a:t>
            </a:r>
            <a:r>
              <a:rPr lang="fr" sz="1100"/>
              <a:t> : régularisation L2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max_iter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Classification, régression, reconnaissance de patterns complexes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Plus flexible qu’un modèle linéaire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Nécessite plus de données et de calcul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Moins interprétable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/>
        </p:nvSpPr>
        <p:spPr>
          <a:xfrm>
            <a:off x="54525" y="796000"/>
            <a:ext cx="8820900" cy="59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12 — Convolutional Neural Networks (CNN)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Réseau spécialisé pour les données structurées spatialement (images, signaux 2D/3D).</a:t>
            </a:r>
            <a:br>
              <a:rPr lang="fr" sz="1100"/>
            </a:br>
            <a:r>
              <a:rPr lang="fr" sz="1100"/>
              <a:t> Utilise des </a:t>
            </a:r>
            <a:r>
              <a:rPr i="1" lang="fr" sz="1100"/>
              <a:t>convolutions</a:t>
            </a:r>
            <a:r>
              <a:rPr lang="fr" sz="1100"/>
              <a:t> pour extraire des motifs locaux et une </a:t>
            </a:r>
            <a:r>
              <a:rPr i="1" lang="fr" sz="1100"/>
              <a:t>pooling layer</a:t>
            </a:r>
            <a:r>
              <a:rPr lang="fr" sz="1100"/>
              <a:t> pour réduire la dimension.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kernel_size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stride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lang="fr" sz="1100"/>
              <a:t> : taille et pas des filtres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nb_filters</a:t>
            </a:r>
            <a:r>
              <a:rPr lang="fr" sz="1100"/>
              <a:t> : nombre de filtres par couche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dropout</a:t>
            </a:r>
            <a:r>
              <a:rPr lang="fr" sz="1100"/>
              <a:t> : régularisation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optimizer</a:t>
            </a:r>
            <a:r>
              <a:rPr lang="fr" sz="1100"/>
              <a:t> : (Adam, SGD, RMSProp…)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Vision par ordinateur : classification d’images, détection d’objets, OCR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Réduction du nombre de paramètres via partage de poids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Moins performant sur données non structurées (texte brut, tabulaire)</a:t>
            </a:r>
            <a:br>
              <a:rPr lang="fr" sz="1100"/>
            </a:b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/>
        </p:nvSpPr>
        <p:spPr>
          <a:xfrm>
            <a:off x="54525" y="796000"/>
            <a:ext cx="8820900" cy="6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13 — Recurrent Neural Networks (RNN, LSTM, GRU)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Réseaux pour séquences où la sortie dépend du contexte passé (mémoire interne).</a:t>
            </a:r>
            <a:br>
              <a:rPr lang="fr" sz="1100"/>
            </a:br>
            <a:r>
              <a:rPr lang="fr" sz="1100"/>
              <a:t> Les variantes LSTM et GRU gèrent mieux le </a:t>
            </a:r>
            <a:r>
              <a:rPr i="1" lang="fr" sz="1100"/>
              <a:t>long-term dependency</a:t>
            </a:r>
            <a:r>
              <a:rPr lang="fr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hidden_size</a:t>
            </a:r>
            <a:r>
              <a:rPr lang="fr" sz="1100"/>
              <a:t> : dimension de l’état caché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num_layers</a:t>
            </a:r>
            <a:r>
              <a:rPr lang="fr" sz="1100"/>
              <a:t> : empilement de couches récurrentes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dropout</a:t>
            </a:r>
            <a:r>
              <a:rPr lang="fr" sz="1100"/>
              <a:t> : régularisation entre couches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bidirectional</a:t>
            </a:r>
            <a:r>
              <a:rPr lang="fr" sz="1100"/>
              <a:t> : flux avant/arrière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NLP : génération de texte, traduction automatique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Time series : prévision, séries financières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Moins parallélisable que CNN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Remplacés progressivement par les </a:t>
            </a:r>
            <a:r>
              <a:rPr b="1" lang="fr" sz="1100"/>
              <a:t>Transformers</a:t>
            </a:r>
            <a:endParaRPr b="1"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/>
        </p:nvSpPr>
        <p:spPr>
          <a:xfrm>
            <a:off x="54525" y="796000"/>
            <a:ext cx="8820900" cy="6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14 — Transformers (BERT, GPT, etc.)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Architecture basée sur le </a:t>
            </a:r>
            <a:r>
              <a:rPr i="1" lang="fr" sz="1100"/>
              <a:t>self-attention</a:t>
            </a:r>
            <a:r>
              <a:rPr lang="fr" sz="1100"/>
              <a:t> : chaque token “regarde” tous les autres.</a:t>
            </a:r>
            <a:br>
              <a:rPr lang="fr" sz="1100"/>
            </a:br>
            <a:r>
              <a:rPr lang="fr" sz="1100"/>
              <a:t> Permet de capturer les dépendances longues sans récurrence.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num_heads</a:t>
            </a:r>
            <a:r>
              <a:rPr lang="fr" sz="1100"/>
              <a:t> : nombre de têtes d’attention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hidden_dim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num_layers</a:t>
            </a:r>
            <a:r>
              <a:rPr lang="fr" sz="1100"/>
              <a:t> : profondeur et dimension du modèle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dropout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NLP : classification de texte, résumé, traduction, génération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Vision (Vision Transformers), multimodalité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Plus rapide à entraîner que RNN sur gros volumes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Très coûteux en calcul/mémoire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State-of-the-art en NLP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54525" y="796000"/>
            <a:ext cx="8820900" cy="52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15 — Autoencoders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Réseaux entraînés à reconstruire leur entrée → l’espace latent intermédiaire capture des représentations compressées.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latent_dim</a:t>
            </a:r>
            <a:r>
              <a:rPr lang="fr" sz="1100"/>
              <a:t> : dimension de l’espace latent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activation</a:t>
            </a:r>
            <a:r>
              <a:rPr lang="fr" sz="1100"/>
              <a:t> : souvent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relu</a:t>
            </a:r>
            <a:r>
              <a:rPr lang="fr" sz="1100"/>
              <a:t> ou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sigmoid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loss</a:t>
            </a:r>
            <a:r>
              <a:rPr lang="fr" sz="1100"/>
              <a:t>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mse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binary_crossentropy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Réduction de dimension, détection d’anomalies, génération de données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Non supervisé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Variante : </a:t>
            </a:r>
            <a:r>
              <a:rPr i="1" lang="fr" sz="1100"/>
              <a:t>Variational Autoencoder (VAE)</a:t>
            </a:r>
            <a:r>
              <a:rPr lang="fr" sz="1100"/>
              <a:t> pour la génération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/>
        </p:nvSpPr>
        <p:spPr>
          <a:xfrm>
            <a:off x="54525" y="796000"/>
            <a:ext cx="8820900" cy="6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16 — GAN (Generative Adversarial Network)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Deux réseaux 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Générateur</a:t>
            </a:r>
            <a:r>
              <a:rPr lang="fr" sz="1100"/>
              <a:t> (crée des données)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Discriminateur</a:t>
            </a:r>
            <a:r>
              <a:rPr lang="fr" sz="1100"/>
              <a:t> (distingue vrai/faux)</a:t>
            </a:r>
            <a:br>
              <a:rPr lang="fr" sz="1100"/>
            </a:br>
            <a:r>
              <a:rPr lang="fr" sz="1100"/>
              <a:t> → entraînés en compétition pour améliorer la qualité des données générées.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latent_dim</a:t>
            </a:r>
            <a:r>
              <a:rPr lang="fr" sz="1100"/>
              <a:t> : taille du bruit d’entrée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batch_size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loss</a:t>
            </a:r>
            <a:r>
              <a:rPr lang="fr" sz="1100"/>
              <a:t> : adversarial loss (souvent cross-entropy)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Génération d’images, data augmentation, super-résolution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Difficulté d’entraînement (instabilité, mode collapse)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VAE = approche probabiliste, GAN = approche compétitive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/>
        </p:nvSpPr>
        <p:spPr>
          <a:xfrm>
            <a:off x="54525" y="796000"/>
            <a:ext cx="8820900" cy="6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17 — Séries Temporelles : ARIMA / SARIMA / Prophet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Modèles statistiques pour séries chronologiques, exploitant la dépendance temporelle.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ARIMA(p,d,q)</a:t>
            </a:r>
            <a:r>
              <a:rPr lang="fr" sz="1100"/>
              <a:t> :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fr" sz="1100"/>
              <a:t> : autoregression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fr" sz="1100"/>
              <a:t> : différenciation</a:t>
            </a:r>
            <a:br>
              <a:rPr lang="fr" sz="1100"/>
            </a:b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</a:t>
            </a:r>
            <a:r>
              <a:rPr lang="fr" sz="1100"/>
              <a:t> : moyenne mobile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SARIMA</a:t>
            </a:r>
            <a:r>
              <a:rPr lang="fr" sz="1100"/>
              <a:t> : ajoute la composante saisonnière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fr" sz="1100"/>
              <a:t>Prophet (Meta)</a:t>
            </a:r>
            <a:r>
              <a:rPr lang="fr" sz="1100"/>
              <a:t> : modélisation additive (trend + saison + vacances)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Prévisions de ventes, météo, finance, énergie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ARIMA : bonne interprétabilité, faible sur données bruitées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Prophet : robuste, simple à paramétrer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Deep Learning (RNN/LSTM) plus performant sur longues séries non stationnaires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/>
        </p:nvSpPr>
        <p:spPr>
          <a:xfrm>
            <a:off x="54525" y="796000"/>
            <a:ext cx="8820900" cy="52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18 — Clustering Avancé : Gaussian Mixture Model (GMM)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Modèle probabiliste supposant que les données proviennent d’un mélange de distributions gaussiennes.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n_components</a:t>
            </a:r>
            <a:r>
              <a:rPr lang="fr" sz="1100"/>
              <a:t> : nb de gaussiennes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covariance_type</a:t>
            </a:r>
            <a:r>
              <a:rPr lang="fr" sz="1100"/>
              <a:t>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full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diag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tied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spherical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max_iter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tol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Segmentation probabiliste, détection d’anomalies, modélisation de densité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Contrairement à k-means → permet chevauchement entre clusters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Plus lent et nécessite de bonnes hypothèses sur la forme des données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/>
        </p:nvSpPr>
        <p:spPr>
          <a:xfrm>
            <a:off x="54525" y="796000"/>
            <a:ext cx="8820900" cy="5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19 — Réseaux de Graphes (Graph Neural Networks - GNN)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Traite les données structurées en graphes (nœuds + arêtes).</a:t>
            </a:r>
            <a:br>
              <a:rPr lang="fr" sz="1100"/>
            </a:br>
            <a:r>
              <a:rPr lang="fr" sz="1100"/>
              <a:t> Chaque nœud agrège les informations de ses voisins via des convolutions de graphes.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num_layers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hidden_dim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aggregation</a:t>
            </a:r>
            <a:r>
              <a:rPr lang="fr" sz="1100"/>
              <a:t>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max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dropout</a:t>
            </a:r>
            <a:r>
              <a:rPr lang="fr" sz="1100"/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Recommandation (graphes utilisateurs-produits), molécules, réseaux sociaux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Complexes à implémenter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Très performants sur données relationnelles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/>
        </p:nvSpPr>
        <p:spPr>
          <a:xfrm>
            <a:off x="54525" y="796000"/>
            <a:ext cx="8820900" cy="5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fr" sz="1700"/>
              <a:t>🧠 FICHE 20 — Reinforcement Learning (RL)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Principe :</a:t>
            </a:r>
            <a:br>
              <a:rPr b="1" lang="fr" sz="1100"/>
            </a:br>
            <a:r>
              <a:rPr lang="fr" sz="1100"/>
              <a:t> Agent apprenant par essai/erreur à maximiser une récompense cumulée dans un environnement.</a:t>
            </a:r>
            <a:br>
              <a:rPr lang="fr" sz="1100"/>
            </a:br>
            <a:r>
              <a:rPr lang="fr" sz="1100"/>
              <a:t> Utilise le paradigme </a:t>
            </a:r>
            <a:r>
              <a:rPr b="1" lang="fr" sz="1100"/>
              <a:t>état → action → récompense → nouvel état</a:t>
            </a:r>
            <a:r>
              <a:rPr lang="fr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Paramètres clés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learning_rate</a:t>
            </a:r>
            <a:b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gamma</a:t>
            </a:r>
            <a:r>
              <a:rPr lang="fr" sz="1100"/>
              <a:t> : facteur de discount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epsilon</a:t>
            </a:r>
            <a:r>
              <a:rPr lang="fr" sz="1100"/>
              <a:t> : exploration/exploitation (epsilon-greedy)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Cas d’utilisation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Jeux (AlphaGo, Atari), robotique, systèmes de recommandation dynamiques</a:t>
            </a:r>
            <a:br>
              <a:rPr lang="fr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fr" sz="1100"/>
              <a:t>Comparaisons 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RL ≠ supervisé : pas de “label” direct</a:t>
            </a:r>
            <a:br>
              <a:rPr lang="fr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Lent à converger, nécessite beaucoup d’expériences</a:t>
            </a:r>
            <a:endParaRPr sz="11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